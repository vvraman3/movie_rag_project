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8" r:id="rId3"/>
    <p:sldId id="257" r:id="rId4"/>
    <p:sldId id="259" r:id="rId5"/>
    <p:sldId id="261" r:id="rId6"/>
    <p:sldId id="262" r:id="rId7"/>
    <p:sldId id="264" r:id="rId8"/>
    <p:sldId id="260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86424-84A9-37A5-197E-512EB16C5C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E23BC0-955A-90A6-38BE-2B833F2E7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9B969-9C62-BAA0-2C32-2A2D5632C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6B0F-98DE-446C-9BBD-A53EE2BBC3D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D57D5-AEE3-63D6-702D-4EF7A6ECB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2EF5C-E585-0619-242A-2A2CE7FEC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8CFAE-4395-41C0-BC7A-60BF5AFEB8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371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8B04C-47E8-ED36-3D27-0BB535193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C190D-43DE-397D-789A-27EB415D5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E4894-6965-DEB2-7217-0189F1A80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6B0F-98DE-446C-9BBD-A53EE2BBC3D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9A5CC-A38D-CB09-A0D3-5BA872061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B9FAD-2288-54B3-ECC3-13B1641E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8CFAE-4395-41C0-BC7A-60BF5AFEB8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156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93347-4131-E120-E52A-A9EF38594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756B0-0688-2771-4C73-05A8D5377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97A3C-755C-7DBD-3745-4124E30F6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6B0F-98DE-446C-9BBD-A53EE2BBC3D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642E3-7644-C391-41BB-A38C738CE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97BC9-6FB0-6FFA-93A8-D99162B29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8CFAE-4395-41C0-BC7A-60BF5AFEB8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819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4E931-6DD5-7915-1204-6B079345B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8540E-EA94-7A36-1104-0F193DCF9E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30BE49-2234-334C-A99D-75864AD11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08C5B-3FA0-2F93-DA9C-423942F60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6B0F-98DE-446C-9BBD-A53EE2BBC3D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76D6F-E557-E4CA-000F-0EF9D274F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3C462-1A51-4056-D29C-978A6C023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8CFAE-4395-41C0-BC7A-60BF5AFEB8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361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7FDCE-2A17-B14E-AD25-150BC0ABD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A0313-B555-EBF2-715F-4015AB6A0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2382E0-CE96-D9A5-B675-A591709ED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653E9C-2456-3064-A945-2949C927B5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D06B03-DA72-82F4-0A5E-2E9D61985F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DF5077-7C37-57F4-2C47-3871B76DC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6B0F-98DE-446C-9BBD-A53EE2BBC3D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C65F84-C168-D3DA-D6D9-3591F90DE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7E10B7-1437-442E-97B7-87D19E0DA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8CFAE-4395-41C0-BC7A-60BF5AFEB8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238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94494-40C4-8A86-9EED-FA3F951B3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1A4446-9C4B-552F-8DEA-305CA8A02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6B0F-98DE-446C-9BBD-A53EE2BBC3D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48FDFE-39B8-306E-6C8D-0D795E9B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D68D4D-1ED5-1E95-5E85-E57D19CDE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8CFAE-4395-41C0-BC7A-60BF5AFEB8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770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3EF0EA-301D-F57F-D4B5-72140E40F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6B0F-98DE-446C-9BBD-A53EE2BBC3D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2055E8-5C56-34F4-1266-7A02E1B4E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5A80E-7E51-74DA-B703-75A1B6280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8CFAE-4395-41C0-BC7A-60BF5AFEB8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981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6C925-E15F-8B21-7BEC-2A55DE438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44DF8-31C8-F573-DFE3-7E3FC41E6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5AD23-F7D0-26C1-7D19-479779890A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9D116-34EF-3B37-E2AF-376B3D9C4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6B0F-98DE-446C-9BBD-A53EE2BBC3D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A3B82-57B1-14CC-1A65-2D2310F60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02E57-FA97-E77F-8F70-5AAACD206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8CFAE-4395-41C0-BC7A-60BF5AFEB8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007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08E50-51C4-CADB-1B91-5B0C30014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27B9AE-00C8-EF83-E9B2-6ABFEA8F34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D916B-2CC0-EDBD-0E57-6FE259172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15E85-6BD2-BC51-848B-3E07C6B19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6B0F-98DE-446C-9BBD-A53EE2BBC3D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2BAE1-928C-A968-F250-81BE6AB87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A09A1-98B1-F688-EABE-15A77F71C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8CFAE-4395-41C0-BC7A-60BF5AFEB8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96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D7388-6FE3-29F2-AE2C-C3F22E285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4C3937-3AD6-7595-644A-3D26131F9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07FB7-BC05-3D74-9145-678A0D241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6B0F-98DE-446C-9BBD-A53EE2BBC3D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E40B8-3092-27B3-4911-A9EADA627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C1F85-9CDD-F6CD-243B-F364756C0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8CFAE-4395-41C0-BC7A-60BF5AFEB8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623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A219E2-750C-0EBC-95D1-4B04B6D098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3F50EC-4566-0677-9130-5360928FB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B42EA-3E15-0336-40F4-7C2825C9B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D6B0F-98DE-446C-9BBD-A53EE2BBC3D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C41F3-8807-7FB7-4043-143425769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DA3E9-B2D6-12BC-1E4B-5F819614A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8CFAE-4395-41C0-BC7A-60BF5AFEB8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396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8FB3E2-25D0-8642-A24C-2F87FB8CD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F20AC-1DC2-7C34-EB4C-17C744B54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07BC8-0EA7-4E79-0182-A138890F15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D6B0F-98DE-446C-9BBD-A53EE2BBC3D0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3E68E-22B7-AC31-8C90-392CF58127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7E230-1BC2-5ACF-586E-EB020963E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8CFAE-4395-41C0-BC7A-60BF5AFEB8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763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DA0CA-1706-F1FE-EECE-D85508110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963C-FA3E-31C2-27D1-794E5A5D4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67407"/>
            <a:ext cx="10515600" cy="341885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Use Case -1 (Movie RAG)</a:t>
            </a:r>
          </a:p>
        </p:txBody>
      </p:sp>
    </p:spTree>
    <p:extLst>
      <p:ext uri="{BB962C8B-B14F-4D97-AF65-F5344CB8AC3E}">
        <p14:creationId xmlns:p14="http://schemas.microsoft.com/office/powerpoint/2010/main" val="3897108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6BEE9-972C-8E66-24E7-6CED4B3BB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A877B-85CD-F7CF-AFC6-29409D514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7" y="18854"/>
            <a:ext cx="10515600" cy="341885"/>
          </a:xfrm>
        </p:spPr>
        <p:txBody>
          <a:bodyPr>
            <a:noAutofit/>
          </a:bodyPr>
          <a:lstStyle/>
          <a:p>
            <a:r>
              <a:rPr lang="en-IN" sz="2400" b="1" dirty="0"/>
              <a:t>DATA PREPARATION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2F7AC6-40E3-5AD7-9FD0-67020B03423B}"/>
              </a:ext>
            </a:extLst>
          </p:cNvPr>
          <p:cNvSpPr/>
          <p:nvPr/>
        </p:nvSpPr>
        <p:spPr>
          <a:xfrm>
            <a:off x="405353" y="923830"/>
            <a:ext cx="2648932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err="1"/>
              <a:t>Movie_file</a:t>
            </a:r>
            <a:r>
              <a:rPr lang="en-IN" sz="1400" dirty="0"/>
              <a:t> (20min)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61084D-5F50-EBFC-DF0C-DA0225314F9B}"/>
              </a:ext>
            </a:extLst>
          </p:cNvPr>
          <p:cNvSpPr/>
          <p:nvPr/>
        </p:nvSpPr>
        <p:spPr>
          <a:xfrm>
            <a:off x="405353" y="2037452"/>
            <a:ext cx="2648932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err="1"/>
              <a:t>Pyscene</a:t>
            </a:r>
            <a:r>
              <a:rPr lang="en-IN" sz="1400" dirty="0"/>
              <a:t> detect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AE6A94-1872-87CA-5181-884D26198ED4}"/>
              </a:ext>
            </a:extLst>
          </p:cNvPr>
          <p:cNvSpPr/>
          <p:nvPr/>
        </p:nvSpPr>
        <p:spPr>
          <a:xfrm>
            <a:off x="3747942" y="3836712"/>
            <a:ext cx="1955271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Images/Frames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4A6BF3-26D1-2853-D3E8-673C87AE562F}"/>
              </a:ext>
            </a:extLst>
          </p:cNvPr>
          <p:cNvSpPr/>
          <p:nvPr/>
        </p:nvSpPr>
        <p:spPr>
          <a:xfrm>
            <a:off x="6332454" y="2790338"/>
            <a:ext cx="2648932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Transcript + Speaker </a:t>
            </a:r>
            <a:r>
              <a:rPr lang="en-IN" sz="1400" dirty="0" err="1"/>
              <a:t>Diarization</a:t>
            </a:r>
            <a:endParaRPr lang="en-IN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40034D-20C8-4E6E-2E43-DBD619DEBC04}"/>
              </a:ext>
            </a:extLst>
          </p:cNvPr>
          <p:cNvSpPr/>
          <p:nvPr/>
        </p:nvSpPr>
        <p:spPr>
          <a:xfrm>
            <a:off x="6332454" y="3836711"/>
            <a:ext cx="2648932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Image summary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8FD822A-DC4E-D791-BD41-40D6082C66E2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1729819" y="1621413"/>
            <a:ext cx="0" cy="416039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927D501C-265D-41AE-06ED-9D222A9C2A18}"/>
              </a:ext>
            </a:extLst>
          </p:cNvPr>
          <p:cNvSpPr/>
          <p:nvPr/>
        </p:nvSpPr>
        <p:spPr>
          <a:xfrm>
            <a:off x="405353" y="3139130"/>
            <a:ext cx="2648932" cy="98383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Strategy to Combine (Combined Videos)</a:t>
            </a:r>
          </a:p>
          <a:p>
            <a:pPr algn="ctr"/>
            <a:r>
              <a:rPr lang="en-IN" sz="1400" dirty="0"/>
              <a:t>(</a:t>
            </a:r>
            <a:r>
              <a:rPr lang="en-IN" sz="1400" dirty="0" err="1"/>
              <a:t>start_time</a:t>
            </a:r>
            <a:r>
              <a:rPr lang="en-IN" sz="1400" dirty="0"/>
              <a:t>, </a:t>
            </a:r>
            <a:r>
              <a:rPr lang="en-IN" sz="1400" dirty="0" err="1"/>
              <a:t>end_time</a:t>
            </a:r>
            <a:r>
              <a:rPr lang="en-IN" sz="1400" dirty="0"/>
              <a:t>, </a:t>
            </a:r>
            <a:r>
              <a:rPr lang="en-IN" sz="1400" dirty="0" err="1"/>
              <a:t>movie_name</a:t>
            </a:r>
            <a:r>
              <a:rPr lang="en-IN" sz="1400" dirty="0"/>
              <a:t>, </a:t>
            </a:r>
            <a:r>
              <a:rPr lang="en-IN" sz="1400" dirty="0" err="1"/>
              <a:t>deeplink</a:t>
            </a:r>
            <a:r>
              <a:rPr lang="en-IN" sz="1400" dirty="0"/>
              <a:t>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CD8FBE4-C98C-F4D3-10F6-9CD0DCC30574}"/>
              </a:ext>
            </a:extLst>
          </p:cNvPr>
          <p:cNvSpPr/>
          <p:nvPr/>
        </p:nvSpPr>
        <p:spPr>
          <a:xfrm>
            <a:off x="3747942" y="2795051"/>
            <a:ext cx="1955271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Audio file  </a:t>
            </a:r>
            <a:br>
              <a:rPr lang="en-IN" sz="1400" dirty="0"/>
            </a:br>
            <a:endParaRPr lang="en-IN" sz="14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FD96189-C3F4-251B-81D0-82E152ABB24E}"/>
              </a:ext>
            </a:extLst>
          </p:cNvPr>
          <p:cNvSpPr/>
          <p:nvPr/>
        </p:nvSpPr>
        <p:spPr>
          <a:xfrm>
            <a:off x="9543068" y="2790338"/>
            <a:ext cx="2127316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Audio Tags(NER) 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443BDFB-A767-DB2C-D550-205975E41514}"/>
              </a:ext>
            </a:extLst>
          </p:cNvPr>
          <p:cNvSpPr/>
          <p:nvPr/>
        </p:nvSpPr>
        <p:spPr>
          <a:xfrm>
            <a:off x="9543068" y="3824927"/>
            <a:ext cx="2127316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Video Tags (NER)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8D01540-4F99-3012-6931-0C7E2B756F37}"/>
              </a:ext>
            </a:extLst>
          </p:cNvPr>
          <p:cNvSpPr txBox="1"/>
          <p:nvPr/>
        </p:nvSpPr>
        <p:spPr>
          <a:xfrm>
            <a:off x="6332454" y="2513339"/>
            <a:ext cx="25758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highlight>
                  <a:srgbClr val="FFFF00"/>
                </a:highlight>
              </a:rPr>
              <a:t>** consider audio language is Telugu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3C65DF6-AD48-D35A-4EE3-038BAF5E834D}"/>
              </a:ext>
            </a:extLst>
          </p:cNvPr>
          <p:cNvCxnSpPr>
            <a:cxnSpLocks/>
            <a:stCxn id="4" idx="2"/>
            <a:endCxn id="42" idx="0"/>
          </p:cNvCxnSpPr>
          <p:nvPr/>
        </p:nvCxnSpPr>
        <p:spPr>
          <a:xfrm>
            <a:off x="1729819" y="2735035"/>
            <a:ext cx="0" cy="404095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F979BA7-6621-E048-DDC5-632E20DB3BD2}"/>
              </a:ext>
            </a:extLst>
          </p:cNvPr>
          <p:cNvCxnSpPr>
            <a:cxnSpLocks/>
            <a:stCxn id="43" idx="3"/>
            <a:endCxn id="8" idx="1"/>
          </p:cNvCxnSpPr>
          <p:nvPr/>
        </p:nvCxnSpPr>
        <p:spPr>
          <a:xfrm flipV="1">
            <a:off x="5703213" y="3139130"/>
            <a:ext cx="629241" cy="4713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5B8D363-6C47-2F6E-E03C-56303F9F77E6}"/>
              </a:ext>
            </a:extLst>
          </p:cNvPr>
          <p:cNvCxnSpPr>
            <a:cxnSpLocks/>
            <a:stCxn id="8" idx="3"/>
            <a:endCxn id="46" idx="1"/>
          </p:cNvCxnSpPr>
          <p:nvPr/>
        </p:nvCxnSpPr>
        <p:spPr>
          <a:xfrm>
            <a:off x="8981386" y="3139130"/>
            <a:ext cx="561682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2323A14-41CE-EB80-8255-7E0773D6FF29}"/>
              </a:ext>
            </a:extLst>
          </p:cNvPr>
          <p:cNvCxnSpPr>
            <a:cxnSpLocks/>
          </p:cNvCxnSpPr>
          <p:nvPr/>
        </p:nvCxnSpPr>
        <p:spPr>
          <a:xfrm flipV="1">
            <a:off x="5709498" y="4196503"/>
            <a:ext cx="629241" cy="4713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454AC02-43F1-BB3B-5349-9A8066147F3B}"/>
              </a:ext>
            </a:extLst>
          </p:cNvPr>
          <p:cNvCxnSpPr>
            <a:cxnSpLocks/>
          </p:cNvCxnSpPr>
          <p:nvPr/>
        </p:nvCxnSpPr>
        <p:spPr>
          <a:xfrm>
            <a:off x="8987671" y="4196503"/>
            <a:ext cx="561682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70F8F8A6-B9CF-C176-C9CF-ED97D8FD250D}"/>
              </a:ext>
            </a:extLst>
          </p:cNvPr>
          <p:cNvCxnSpPr>
            <a:cxnSpLocks/>
            <a:stCxn id="42" idx="3"/>
            <a:endCxn id="43" idx="1"/>
          </p:cNvCxnSpPr>
          <p:nvPr/>
        </p:nvCxnSpPr>
        <p:spPr>
          <a:xfrm flipV="1">
            <a:off x="3054285" y="3143843"/>
            <a:ext cx="693657" cy="487205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AEBA306E-EE29-049B-C89F-8F6E8AC1C9BF}"/>
              </a:ext>
            </a:extLst>
          </p:cNvPr>
          <p:cNvCxnSpPr>
            <a:cxnSpLocks/>
            <a:stCxn id="42" idx="3"/>
            <a:endCxn id="7" idx="1"/>
          </p:cNvCxnSpPr>
          <p:nvPr/>
        </p:nvCxnSpPr>
        <p:spPr>
          <a:xfrm>
            <a:off x="3054285" y="3631048"/>
            <a:ext cx="693657" cy="554456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76A5AEB-27A4-41C8-6EF8-2F9AC8594EBA}"/>
              </a:ext>
            </a:extLst>
          </p:cNvPr>
          <p:cNvSpPr txBox="1"/>
          <p:nvPr/>
        </p:nvSpPr>
        <p:spPr>
          <a:xfrm>
            <a:off x="223887" y="4661515"/>
            <a:ext cx="50433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Visual Cut: Use </a:t>
            </a:r>
            <a:r>
              <a:rPr lang="en-US" sz="1200" dirty="0" err="1"/>
              <a:t>PySceneDetect</a:t>
            </a:r>
            <a:r>
              <a:rPr lang="en-US" sz="1200" dirty="0"/>
              <a:t> to find all possible camera changes.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Audio Glue: Use Speaker </a:t>
            </a:r>
            <a:r>
              <a:rPr lang="en-US" sz="1200" dirty="0" err="1"/>
              <a:t>Diarization</a:t>
            </a:r>
            <a:r>
              <a:rPr lang="en-US" sz="1200" dirty="0"/>
              <a:t> or </a:t>
            </a:r>
            <a:r>
              <a:rPr lang="en-US" sz="1200" dirty="0" err="1"/>
              <a:t>librosa</a:t>
            </a:r>
            <a:r>
              <a:rPr lang="en-US" sz="1200" dirty="0"/>
              <a:t> to see if the audio is continuous across those cuts.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Merge: If the audio is the same (e.g., the same song is playing or the same two people are talking), ignore the visual cuts and keep the segment as one "Short Video."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610943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13FE3-6492-A819-C2F2-3FA37B5FF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76A54-9B61-9811-C5B9-4675DB530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7" y="18854"/>
            <a:ext cx="10515600" cy="341885"/>
          </a:xfrm>
        </p:spPr>
        <p:txBody>
          <a:bodyPr>
            <a:noAutofit/>
          </a:bodyPr>
          <a:lstStyle/>
          <a:p>
            <a:r>
              <a:rPr lang="en-IN" sz="2400" b="1" dirty="0"/>
              <a:t>VECTORIZATION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63F9CE-F057-8712-A109-AFC700A0F095}"/>
              </a:ext>
            </a:extLst>
          </p:cNvPr>
          <p:cNvSpPr txBox="1"/>
          <p:nvPr/>
        </p:nvSpPr>
        <p:spPr>
          <a:xfrm>
            <a:off x="7158087" y="688156"/>
            <a:ext cx="503391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{</a:t>
            </a:r>
          </a:p>
          <a:p>
            <a:r>
              <a:rPr lang="en-IN" sz="1400" dirty="0"/>
              <a:t>  "</a:t>
            </a:r>
            <a:r>
              <a:rPr lang="en-IN" sz="1400" dirty="0" err="1"/>
              <a:t>chunk_id</a:t>
            </a:r>
            <a:r>
              <a:rPr lang="en-IN" sz="1400" dirty="0"/>
              <a:t>": "matrix_chunk_042",</a:t>
            </a:r>
          </a:p>
          <a:p>
            <a:r>
              <a:rPr lang="en-IN" sz="1400" dirty="0"/>
              <a:t>  "</a:t>
            </a:r>
            <a:r>
              <a:rPr lang="en-IN" sz="1400" dirty="0" err="1"/>
              <a:t>video_title</a:t>
            </a:r>
            <a:r>
              <a:rPr lang="en-IN" sz="1400" dirty="0"/>
              <a:t>": "The Matrix",</a:t>
            </a:r>
          </a:p>
          <a:p>
            <a:r>
              <a:rPr lang="en-IN" sz="1400" dirty="0"/>
              <a:t>  "</a:t>
            </a:r>
            <a:r>
              <a:rPr lang="en-IN" sz="1400" dirty="0" err="1"/>
              <a:t>speaker_map</a:t>
            </a:r>
            <a:r>
              <a:rPr lang="en-IN" sz="1400" dirty="0"/>
              <a:t>": {"Speaker_01": "Neo", "Speaker_02": "Agent Smith"},</a:t>
            </a:r>
          </a:p>
          <a:p>
            <a:r>
              <a:rPr lang="en-IN" sz="1400" dirty="0"/>
              <a:t>  "</a:t>
            </a:r>
            <a:r>
              <a:rPr lang="en-IN" sz="1400" dirty="0" err="1"/>
              <a:t>start_time</a:t>
            </a:r>
            <a:r>
              <a:rPr lang="en-IN" sz="1400" dirty="0"/>
              <a:t>": "00:45:10",</a:t>
            </a:r>
          </a:p>
          <a:p>
            <a:r>
              <a:rPr lang="en-IN" sz="1400" dirty="0"/>
              <a:t>  "</a:t>
            </a:r>
            <a:r>
              <a:rPr lang="en-IN" sz="1400" dirty="0" err="1"/>
              <a:t>end_time</a:t>
            </a:r>
            <a:r>
              <a:rPr lang="en-IN" sz="1400" dirty="0"/>
              <a:t>": "00:46:05",</a:t>
            </a:r>
          </a:p>
          <a:p>
            <a:r>
              <a:rPr lang="en-IN" sz="1400" dirty="0"/>
              <a:t>  "transcript": "No, Mr. Wizard, get me out of here!",</a:t>
            </a:r>
          </a:p>
          <a:p>
            <a:r>
              <a:rPr lang="en-IN" sz="1400" dirty="0"/>
              <a:t>  "entities": ["Neo", "Phone Booth", "Agent Smith"],</a:t>
            </a:r>
          </a:p>
          <a:p>
            <a:r>
              <a:rPr lang="en-IN" sz="1400" dirty="0"/>
              <a:t>  "</a:t>
            </a:r>
            <a:r>
              <a:rPr lang="en-IN" sz="1400" dirty="0" err="1"/>
              <a:t>visual_tags</a:t>
            </a:r>
            <a:r>
              <a:rPr lang="en-IN" sz="1400" dirty="0"/>
              <a:t>": ["</a:t>
            </a:r>
            <a:r>
              <a:rPr lang="en-IN" sz="1400" dirty="0" err="1"/>
              <a:t>high_motion</a:t>
            </a:r>
            <a:r>
              <a:rPr lang="en-IN" sz="1400" dirty="0"/>
              <a:t>", "sunglasses", "rain"],</a:t>
            </a:r>
          </a:p>
          <a:p>
            <a:r>
              <a:rPr lang="en-IN" sz="1400" dirty="0">
                <a:highlight>
                  <a:srgbClr val="FFFF00"/>
                </a:highlight>
              </a:rPr>
              <a:t>  "</a:t>
            </a:r>
            <a:r>
              <a:rPr lang="en-IN" sz="1400" dirty="0" err="1">
                <a:highlight>
                  <a:srgbClr val="FFFF00"/>
                </a:highlight>
              </a:rPr>
              <a:t>genre_weights</a:t>
            </a:r>
            <a:r>
              <a:rPr lang="en-IN" sz="1400" dirty="0">
                <a:highlight>
                  <a:srgbClr val="FFFF00"/>
                </a:highlight>
              </a:rPr>
              <a:t>": {</a:t>
            </a:r>
          </a:p>
          <a:p>
            <a:r>
              <a:rPr lang="en-IN" sz="1400" dirty="0">
                <a:highlight>
                  <a:srgbClr val="FFFF00"/>
                </a:highlight>
              </a:rPr>
              <a:t>    "action": 0.85, </a:t>
            </a:r>
          </a:p>
          <a:p>
            <a:r>
              <a:rPr lang="en-IN" sz="1400" dirty="0">
                <a:highlight>
                  <a:srgbClr val="FFFF00"/>
                </a:highlight>
              </a:rPr>
              <a:t>    "emotional": 0.10,</a:t>
            </a:r>
          </a:p>
          <a:p>
            <a:r>
              <a:rPr lang="en-IN" sz="1400" dirty="0">
                <a:highlight>
                  <a:srgbClr val="FFFF00"/>
                </a:highlight>
              </a:rPr>
              <a:t>    "song": 0.0</a:t>
            </a:r>
          </a:p>
          <a:p>
            <a:r>
              <a:rPr lang="en-IN" sz="1400" dirty="0"/>
              <a:t>  },</a:t>
            </a:r>
          </a:p>
          <a:p>
            <a:r>
              <a:rPr lang="en-IN" sz="1400" dirty="0"/>
              <a:t>  "</a:t>
            </a:r>
            <a:r>
              <a:rPr lang="en-IN" sz="1400" dirty="0" err="1"/>
              <a:t>audio_tags</a:t>
            </a:r>
            <a:r>
              <a:rPr lang="en-IN" sz="1400" dirty="0"/>
              <a:t>": ["</a:t>
            </a:r>
            <a:r>
              <a:rPr lang="en-IN" sz="1400" dirty="0" err="1"/>
              <a:t>heavy_rain</a:t>
            </a:r>
            <a:r>
              <a:rPr lang="en-IN" sz="1400" dirty="0"/>
              <a:t>", "footsteps", "</a:t>
            </a:r>
            <a:r>
              <a:rPr lang="en-IN" sz="1400" dirty="0" err="1"/>
              <a:t>electronic_music</a:t>
            </a:r>
            <a:r>
              <a:rPr lang="en-IN" sz="1400" dirty="0"/>
              <a:t>"],</a:t>
            </a:r>
          </a:p>
          <a:p>
            <a:r>
              <a:rPr lang="en-IN" sz="1400" dirty="0"/>
              <a:t>  "</a:t>
            </a:r>
            <a:r>
              <a:rPr lang="en-IN" sz="1400" dirty="0" err="1"/>
              <a:t>local_path</a:t>
            </a:r>
            <a:r>
              <a:rPr lang="en-IN" sz="1400" dirty="0"/>
              <a:t>": "./clips/matrix_chunk_042.mp4",</a:t>
            </a:r>
          </a:p>
          <a:p>
            <a:r>
              <a:rPr lang="en-IN" sz="1400" dirty="0"/>
              <a:t>  "</a:t>
            </a:r>
            <a:r>
              <a:rPr lang="en-IN" sz="1400" dirty="0" err="1"/>
              <a:t>embedding_visual</a:t>
            </a:r>
            <a:r>
              <a:rPr lang="en-IN" sz="1400" dirty="0"/>
              <a:t>": [0.123, -0.456, "..."],</a:t>
            </a:r>
          </a:p>
          <a:p>
            <a:r>
              <a:rPr lang="en-IN" sz="1400" dirty="0"/>
              <a:t>  "</a:t>
            </a:r>
            <a:r>
              <a:rPr lang="en-IN" sz="1400" dirty="0" err="1"/>
              <a:t>embedding_text</a:t>
            </a:r>
            <a:r>
              <a:rPr lang="en-IN" sz="1400" dirty="0"/>
              <a:t>": [0.789, 0.012, "..."]</a:t>
            </a:r>
          </a:p>
          <a:p>
            <a:r>
              <a:rPr lang="en-IN" sz="1400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AD0457-9771-3000-115E-DF4A1249BA49}"/>
              </a:ext>
            </a:extLst>
          </p:cNvPr>
          <p:cNvSpPr txBox="1"/>
          <p:nvPr/>
        </p:nvSpPr>
        <p:spPr>
          <a:xfrm>
            <a:off x="169682" y="669303"/>
            <a:ext cx="641965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{</a:t>
            </a:r>
          </a:p>
          <a:p>
            <a:r>
              <a:rPr lang="en-IN" sz="1400" dirty="0"/>
              <a:t>"</a:t>
            </a:r>
            <a:r>
              <a:rPr lang="en-IN" sz="1400" dirty="0" err="1"/>
              <a:t>chunk_id</a:t>
            </a:r>
            <a:r>
              <a:rPr lang="en-IN" sz="1400" dirty="0"/>
              <a:t>": "&lt;</a:t>
            </a:r>
            <a:r>
              <a:rPr lang="en-IN" sz="1400" dirty="0" err="1"/>
              <a:t>movie_name</a:t>
            </a:r>
            <a:r>
              <a:rPr lang="en-IN" sz="1400" dirty="0"/>
              <a:t>&gt;_chunk_001",</a:t>
            </a:r>
          </a:p>
          <a:p>
            <a:r>
              <a:rPr lang="en-IN" sz="1400" dirty="0"/>
              <a:t>"</a:t>
            </a:r>
            <a:r>
              <a:rPr lang="en-IN" sz="1400" dirty="0" err="1"/>
              <a:t>video_title</a:t>
            </a:r>
            <a:r>
              <a:rPr lang="en-IN" sz="1400" dirty="0"/>
              <a:t>": "&lt;</a:t>
            </a:r>
            <a:r>
              <a:rPr lang="en-IN" sz="1400" dirty="0" err="1"/>
              <a:t>movie_name</a:t>
            </a:r>
            <a:r>
              <a:rPr lang="en-IN" sz="1400" dirty="0"/>
              <a:t>&gt;",</a:t>
            </a:r>
          </a:p>
          <a:p>
            <a:r>
              <a:rPr lang="en-IN" sz="1400" dirty="0"/>
              <a:t>"speaker": "&lt;info from speaker </a:t>
            </a:r>
            <a:r>
              <a:rPr lang="en-IN" sz="1400" dirty="0" err="1"/>
              <a:t>diarization</a:t>
            </a:r>
            <a:r>
              <a:rPr lang="en-IN" sz="1400" dirty="0"/>
              <a:t>&gt;",</a:t>
            </a:r>
          </a:p>
          <a:p>
            <a:r>
              <a:rPr lang="en-IN" sz="1400" dirty="0"/>
              <a:t>"</a:t>
            </a:r>
            <a:r>
              <a:rPr lang="en-IN" sz="1400" dirty="0" err="1"/>
              <a:t>start_time</a:t>
            </a:r>
            <a:r>
              <a:rPr lang="en-IN" sz="1400" dirty="0"/>
              <a:t>": "00:00:00",</a:t>
            </a:r>
          </a:p>
          <a:p>
            <a:r>
              <a:rPr lang="en-IN" sz="1400" dirty="0"/>
              <a:t>"</a:t>
            </a:r>
            <a:r>
              <a:rPr lang="en-IN" sz="1400" dirty="0" err="1"/>
              <a:t>end_time</a:t>
            </a:r>
            <a:r>
              <a:rPr lang="en-IN" sz="1400" dirty="0"/>
              <a:t>": "00:05:48",</a:t>
            </a:r>
          </a:p>
          <a:p>
            <a:r>
              <a:rPr lang="en-IN" sz="1400" dirty="0"/>
              <a:t>"transcript": "When handling PII for EU residents, you must ensure...",</a:t>
            </a:r>
          </a:p>
          <a:p>
            <a:r>
              <a:rPr lang="en-IN" sz="1400" dirty="0"/>
              <a:t>"entities": "GDPR Article 17 — Right to Erasure",</a:t>
            </a:r>
          </a:p>
          <a:p>
            <a:r>
              <a:rPr lang="en-IN" sz="1400" dirty="0"/>
              <a:t>"</a:t>
            </a:r>
            <a:r>
              <a:rPr lang="en-IN" sz="1400" dirty="0" err="1"/>
              <a:t>visual_tags</a:t>
            </a:r>
            <a:r>
              <a:rPr lang="en-IN" sz="1400" dirty="0"/>
              <a:t>": [&lt;Entities/Objects, Faces/Speaker IDs, Sentiment/Emotions, Actions&gt;, "fight/comedy/</a:t>
            </a:r>
            <a:r>
              <a:rPr lang="en-IN" sz="1400" dirty="0" err="1"/>
              <a:t>humor</a:t>
            </a:r>
            <a:r>
              <a:rPr lang="en-IN" sz="1400" dirty="0"/>
              <a:t>/romance/action", "laughter", "explosions", "crowd", "vehicles", "guns", etc.,],</a:t>
            </a:r>
          </a:p>
          <a:p>
            <a:r>
              <a:rPr lang="en-IN" sz="1400" dirty="0"/>
              <a:t>"</a:t>
            </a:r>
            <a:r>
              <a:rPr lang="en-IN" sz="1400" dirty="0" err="1"/>
              <a:t>audio_tags</a:t>
            </a:r>
            <a:r>
              <a:rPr lang="en-IN" sz="1400" dirty="0"/>
              <a:t>": ["loudness", "music mood(romantic/serious, screams, gunshots, laughter, </a:t>
            </a:r>
            <a:r>
              <a:rPr lang="en-IN" sz="1400" dirty="0" err="1"/>
              <a:t>crowd,gunshots</a:t>
            </a:r>
            <a:r>
              <a:rPr lang="en-IN" sz="1400" dirty="0"/>
              <a:t>, etc.,)",</a:t>
            </a:r>
          </a:p>
          <a:p>
            <a:r>
              <a:rPr lang="en-IN" sz="1400" dirty="0"/>
              <a:t>"</a:t>
            </a:r>
            <a:r>
              <a:rPr lang="en-IN" sz="1400" dirty="0" err="1"/>
              <a:t>deep_link</a:t>
            </a:r>
            <a:r>
              <a:rPr lang="en-IN" sz="1400" dirty="0"/>
              <a:t>": "https://player.url/vid_0042?t=872" &lt;file path of the chunk video&gt;,</a:t>
            </a:r>
          </a:p>
          <a:p>
            <a:r>
              <a:rPr lang="en-IN" sz="1400" dirty="0"/>
              <a:t>&lt;add any relevant information here&gt;</a:t>
            </a:r>
          </a:p>
          <a:p>
            <a:r>
              <a:rPr lang="en-IN" sz="1400" dirty="0"/>
              <a:t>}</a:t>
            </a:r>
          </a:p>
          <a:p>
            <a:endParaRPr lang="en-IN" sz="1400" dirty="0"/>
          </a:p>
          <a:p>
            <a:endParaRPr lang="en-IN" sz="1400" dirty="0"/>
          </a:p>
          <a:p>
            <a:endParaRPr lang="en-IN" sz="1400" dirty="0"/>
          </a:p>
          <a:p>
            <a:r>
              <a:rPr lang="en-IN" sz="1400" dirty="0"/>
              <a:t>Language</a:t>
            </a:r>
          </a:p>
          <a:p>
            <a:endParaRPr lang="en-IN" sz="1400" dirty="0"/>
          </a:p>
          <a:p>
            <a:r>
              <a:rPr lang="en-IN" sz="1400" b="1" dirty="0">
                <a:highlight>
                  <a:srgbClr val="FFFF00"/>
                </a:highlight>
              </a:rPr>
              <a:t>Chunk </a:t>
            </a:r>
            <a:r>
              <a:rPr lang="en-IN" sz="1400" b="1" dirty="0" err="1">
                <a:highlight>
                  <a:srgbClr val="FFFF00"/>
                </a:highlight>
              </a:rPr>
              <a:t>overalap</a:t>
            </a:r>
            <a:endParaRPr lang="en-IN" sz="1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30321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044CA-78F2-D247-3654-831E57D3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64DCB-CFB8-026A-055E-C19C1156A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7" y="18854"/>
            <a:ext cx="10515600" cy="341885"/>
          </a:xfrm>
        </p:spPr>
        <p:txBody>
          <a:bodyPr>
            <a:normAutofit fontScale="90000"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RETRIEVAL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F32294-E000-B765-731C-675F021D4277}"/>
              </a:ext>
            </a:extLst>
          </p:cNvPr>
          <p:cNvSpPr/>
          <p:nvPr/>
        </p:nvSpPr>
        <p:spPr>
          <a:xfrm>
            <a:off x="2017336" y="1847657"/>
            <a:ext cx="2648932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User Search (Text)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D1CDA0-6F76-354E-4397-5D8658F26D97}"/>
              </a:ext>
            </a:extLst>
          </p:cNvPr>
          <p:cNvSpPr/>
          <p:nvPr/>
        </p:nvSpPr>
        <p:spPr>
          <a:xfrm>
            <a:off x="2017336" y="2988300"/>
            <a:ext cx="2648932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NER Extraction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609D3F-4A1B-42B9-C643-48642380E19F}"/>
              </a:ext>
            </a:extLst>
          </p:cNvPr>
          <p:cNvSpPr/>
          <p:nvPr/>
        </p:nvSpPr>
        <p:spPr>
          <a:xfrm>
            <a:off x="5540604" y="2988300"/>
            <a:ext cx="2648932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Metadata Filtering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92920D-F49A-66AE-79CF-507CD3DC5B3D}"/>
              </a:ext>
            </a:extLst>
          </p:cNvPr>
          <p:cNvSpPr/>
          <p:nvPr/>
        </p:nvSpPr>
        <p:spPr>
          <a:xfrm>
            <a:off x="5540604" y="4260919"/>
            <a:ext cx="2648932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Hybrid Search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970DFF-BD37-C55F-D6DC-E3ABE7529436}"/>
              </a:ext>
            </a:extLst>
          </p:cNvPr>
          <p:cNvSpPr/>
          <p:nvPr/>
        </p:nvSpPr>
        <p:spPr>
          <a:xfrm>
            <a:off x="5540604" y="5420416"/>
            <a:ext cx="2648932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Relevant Video Links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AF242FE-EA16-6CB1-978E-0633303EC4C5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3341802" y="2545240"/>
            <a:ext cx="0" cy="44306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B6C7BC-AC21-541A-DB0A-94F1873EE431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4666268" y="3337092"/>
            <a:ext cx="874336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E3E0C6A-A47E-9FAB-C187-C072CB2B9673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6865070" y="3685883"/>
            <a:ext cx="0" cy="575036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59649A0-A236-CFE4-C49B-68CC4329768F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6865070" y="4958502"/>
            <a:ext cx="0" cy="461914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phic 25" descr="User">
            <a:extLst>
              <a:ext uri="{FF2B5EF4-FFF2-40B4-BE49-F238E27FC236}">
                <a16:creationId xmlns:a16="http://schemas.microsoft.com/office/drawing/2014/main" id="{5EA63D56-6360-9797-4956-0D3177EB2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84602" y="623432"/>
            <a:ext cx="914400" cy="914400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06CB4D2-E305-79C3-4379-59A2DBA29E1B}"/>
              </a:ext>
            </a:extLst>
          </p:cNvPr>
          <p:cNvCxnSpPr>
            <a:cxnSpLocks/>
            <a:stCxn id="26" idx="2"/>
            <a:endCxn id="3" idx="0"/>
          </p:cNvCxnSpPr>
          <p:nvPr/>
        </p:nvCxnSpPr>
        <p:spPr>
          <a:xfrm>
            <a:off x="3341802" y="1537832"/>
            <a:ext cx="0" cy="309825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2762D9D7-D6B2-BCAE-A5C4-EEAB0A18D1AB}"/>
              </a:ext>
            </a:extLst>
          </p:cNvPr>
          <p:cNvCxnSpPr>
            <a:cxnSpLocks/>
            <a:stCxn id="9" idx="3"/>
          </p:cNvCxnSpPr>
          <p:nvPr/>
        </p:nvCxnSpPr>
        <p:spPr>
          <a:xfrm flipH="1" flipV="1">
            <a:off x="3799002" y="1080632"/>
            <a:ext cx="4390534" cy="4688576"/>
          </a:xfrm>
          <a:prstGeom prst="bentConnector4">
            <a:avLst>
              <a:gd name="adj1" fmla="val -5207"/>
              <a:gd name="adj2" fmla="val 99964"/>
            </a:avLst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6599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B15EB-EF78-D27C-DB43-7C8901EE5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2C602-E94D-2E87-3BF6-51C01299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7" y="18854"/>
            <a:ext cx="10515600" cy="341885"/>
          </a:xfrm>
        </p:spPr>
        <p:txBody>
          <a:bodyPr>
            <a:normAutofit fontScale="90000"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Movie RAG System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D7B2B8-D721-193D-D3D6-0598C17F5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608" y="817329"/>
            <a:ext cx="9571348" cy="537537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52504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CD2DE-31F8-0BD0-6493-BDEA5EE6F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9BB23-D795-12E9-F8CA-6D17BC5A0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7" y="18854"/>
            <a:ext cx="10515600" cy="341885"/>
          </a:xfrm>
        </p:spPr>
        <p:txBody>
          <a:bodyPr>
            <a:normAutofit fontScale="90000"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Movie RAG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66E637-56A0-428B-668E-55DBE691A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992" y="780443"/>
            <a:ext cx="6352853" cy="529711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D84DB6-B06B-23A3-08BD-84B63B2C138A}"/>
              </a:ext>
            </a:extLst>
          </p:cNvPr>
          <p:cNvSpPr txBox="1"/>
          <p:nvPr/>
        </p:nvSpPr>
        <p:spPr>
          <a:xfrm>
            <a:off x="7682845" y="780443"/>
            <a:ext cx="3252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i="1" dirty="0">
                <a:highlight>
                  <a:srgbClr val="FFFF00"/>
                </a:highlight>
              </a:rPr>
              <a:t>GUI has been changed to reflect multiple videos in the default view.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200" i="1" dirty="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i="1" dirty="0">
                <a:highlight>
                  <a:srgbClr val="FFFF00"/>
                </a:highlight>
              </a:rPr>
              <a:t>Ran into Quota limit issues.</a:t>
            </a:r>
          </a:p>
        </p:txBody>
      </p:sp>
    </p:spTree>
    <p:extLst>
      <p:ext uri="{BB962C8B-B14F-4D97-AF65-F5344CB8AC3E}">
        <p14:creationId xmlns:p14="http://schemas.microsoft.com/office/powerpoint/2010/main" val="2923793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7B7C8-4FF7-5C94-E125-319CEA043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56021-364C-1371-3C87-59BDFCAD3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67407"/>
            <a:ext cx="10515600" cy="341885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Use Case -2 (Cricket Broadcasting – Highlight Detection)</a:t>
            </a:r>
          </a:p>
        </p:txBody>
      </p:sp>
    </p:spTree>
    <p:extLst>
      <p:ext uri="{BB962C8B-B14F-4D97-AF65-F5344CB8AC3E}">
        <p14:creationId xmlns:p14="http://schemas.microsoft.com/office/powerpoint/2010/main" val="2674349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14422-C130-E6DA-62EF-BB001F28E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166BC-01E9-7206-96AD-07DF338DC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7" y="18854"/>
            <a:ext cx="10515600" cy="341885"/>
          </a:xfrm>
        </p:spPr>
        <p:txBody>
          <a:bodyPr>
            <a:normAutofit fontScale="90000"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Cricket Highlights Generation using AI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F0A34E-880E-519F-2B01-048E15E227F0}"/>
              </a:ext>
            </a:extLst>
          </p:cNvPr>
          <p:cNvSpPr/>
          <p:nvPr/>
        </p:nvSpPr>
        <p:spPr>
          <a:xfrm>
            <a:off x="254524" y="1344581"/>
            <a:ext cx="1508288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Multi-camera Setup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F7AE7C-F0D8-865C-D5C6-94640E7D2673}"/>
              </a:ext>
            </a:extLst>
          </p:cNvPr>
          <p:cNvSpPr/>
          <p:nvPr/>
        </p:nvSpPr>
        <p:spPr>
          <a:xfrm>
            <a:off x="2271860" y="1344584"/>
            <a:ext cx="1414020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Live feed ingest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48F26F-41EC-5658-2A7D-DAC6AE297A8D}"/>
              </a:ext>
            </a:extLst>
          </p:cNvPr>
          <p:cNvSpPr/>
          <p:nvPr/>
        </p:nvSpPr>
        <p:spPr>
          <a:xfrm>
            <a:off x="4470662" y="933254"/>
            <a:ext cx="3476134" cy="153656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Video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Audio (crowd, stump mic, commentary)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On-screen graphics (“6”, “4”, “wicket”, ”replay”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Frames (scores, wickets, bowler, batsman, on-screen boards of audience)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927289-455A-B381-97FA-4066234D99FA}"/>
              </a:ext>
            </a:extLst>
          </p:cNvPr>
          <p:cNvSpPr/>
          <p:nvPr/>
        </p:nvSpPr>
        <p:spPr>
          <a:xfrm>
            <a:off x="7946796" y="308559"/>
            <a:ext cx="2408549" cy="173360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/>
              <a:t>Video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Ball Trajectory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Crowd cheer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Batsman/Bowler celebrations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Umpire Gestures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Fielder dived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Special guests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B2C32BC-FAA7-3037-5881-F82347E74842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1762812" y="1693373"/>
            <a:ext cx="509048" cy="3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F2B9797-5406-3572-CCDA-AB38F70F205C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3685880" y="1693376"/>
            <a:ext cx="784782" cy="8163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2753E407-587C-EBAB-0FF7-75AF050210EA}"/>
              </a:ext>
            </a:extLst>
          </p:cNvPr>
          <p:cNvSpPr/>
          <p:nvPr/>
        </p:nvSpPr>
        <p:spPr>
          <a:xfrm>
            <a:off x="7946796" y="2042164"/>
            <a:ext cx="2408549" cy="159312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/>
              <a:t>Audio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Audio spike (crowd cheer)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Commentator audio intensity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Bat/Ball Impact sound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Ball/Wicket Impact sound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Review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DC327C4-8F76-F8B2-6CD2-1A27C1B52E34}"/>
              </a:ext>
            </a:extLst>
          </p:cNvPr>
          <p:cNvSpPr/>
          <p:nvPr/>
        </p:nvSpPr>
        <p:spPr>
          <a:xfrm>
            <a:off x="4470662" y="4300194"/>
            <a:ext cx="3476134" cy="153656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Was it a boundary(6/4)? (score change)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Was it a wicket? (On-screen graphics)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Was there a review? (Bowler Shouting)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Was there a special guest? (Cloud cheer)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12EF7BF-4574-99B3-0AC5-0D0E0F2A63A5}"/>
              </a:ext>
            </a:extLst>
          </p:cNvPr>
          <p:cNvCxnSpPr>
            <a:cxnSpLocks/>
            <a:stCxn id="7" idx="2"/>
            <a:endCxn id="38" idx="0"/>
          </p:cNvCxnSpPr>
          <p:nvPr/>
        </p:nvCxnSpPr>
        <p:spPr>
          <a:xfrm>
            <a:off x="6208729" y="2469823"/>
            <a:ext cx="0" cy="1830371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7276761E-4539-4C58-6696-4043A15A1882}"/>
              </a:ext>
            </a:extLst>
          </p:cNvPr>
          <p:cNvSpPr/>
          <p:nvPr/>
        </p:nvSpPr>
        <p:spPr>
          <a:xfrm>
            <a:off x="8702512" y="4626683"/>
            <a:ext cx="1414020" cy="6975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Generate Highlight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912BCA4-105B-F30B-00AD-EF858C1371B9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7946796" y="5068479"/>
            <a:ext cx="755716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137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F867EF-2801-3BD7-6E28-26CB49745342}"/>
              </a:ext>
            </a:extLst>
          </p:cNvPr>
          <p:cNvSpPr txBox="1"/>
          <p:nvPr/>
        </p:nvSpPr>
        <p:spPr>
          <a:xfrm>
            <a:off x="593889" y="1807589"/>
            <a:ext cx="2677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1687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2534</TotalTime>
  <Words>714</Words>
  <Application>Microsoft Office PowerPoint</Application>
  <PresentationFormat>Widescreen</PresentationFormat>
  <Paragraphs>94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Use Case -1 (Movie RAG)</vt:lpstr>
      <vt:lpstr>DATA PREPARATION</vt:lpstr>
      <vt:lpstr>VECTORIZATION</vt:lpstr>
      <vt:lpstr>RETRIEVAL</vt:lpstr>
      <vt:lpstr>Movie RAG System</vt:lpstr>
      <vt:lpstr>Movie RAG System</vt:lpstr>
      <vt:lpstr>Use Case -2 (Cricket Broadcasting – Highlight Detection)</vt:lpstr>
      <vt:lpstr>Cricket Highlights Generation using AI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Chandana Tirumalashetty</dc:creator>
  <cp:lastModifiedBy>Chandana Tirumalashetty</cp:lastModifiedBy>
  <cp:revision>22</cp:revision>
  <dcterms:created xsi:type="dcterms:W3CDTF">2026-03-14T06:19:39Z</dcterms:created>
  <dcterms:modified xsi:type="dcterms:W3CDTF">2026-03-19T11:39:54Z</dcterms:modified>
</cp:coreProperties>
</file>